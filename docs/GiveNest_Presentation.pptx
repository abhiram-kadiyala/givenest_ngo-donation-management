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veNest" id="{C3243874-5B5E-0891-32D7-5CC3D6477BB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699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F3D2E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468"/>
                </a:solidFill>
              </a:rPr>
              <a:t>GiveNest  ·  Backend Web 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4572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5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</a:rPr>
              <a:t>GiveNest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Generosity Finds a Home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#69-NGO Donation Management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CBB0"/>
                </a:solidFill>
              </a:rPr>
              <a:t>A Full-Stack Web Application Built Using the MERN Stack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CBB0"/>
                </a:solidFill>
              </a:rPr>
              <a:t>Subject: Backend Web Development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CBB0"/>
                </a:solidFill>
              </a:rPr>
              <a:t>Presented by: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9CBB0"/>
                </a:solidFill>
              </a:rPr>
              <a:t>Kadiyala Abhiram (25MVCSMR0311)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9CBB0"/>
                </a:solidFill>
              </a:rPr>
              <a:t>Mohammad </a:t>
            </a:r>
            <a:r>
              <a:rPr lang="en-US" sz="1200" dirty="0" err="1">
                <a:solidFill>
                  <a:srgbClr val="D9CBB0"/>
                </a:solidFill>
              </a:rPr>
              <a:t>Sayfulla</a:t>
            </a:r>
            <a:r>
              <a:rPr lang="en-US" sz="1200" dirty="0">
                <a:solidFill>
                  <a:srgbClr val="D9CBB0"/>
                </a:solidFill>
              </a:rPr>
              <a:t> (25MVCSMR0330)</a:t>
            </a:r>
            <a:br>
              <a:rPr lang="en-US" sz="1200" dirty="0">
                <a:solidFill>
                  <a:srgbClr val="D9CBB0"/>
                </a:solidFill>
              </a:rPr>
            </a:br>
            <a:r>
              <a:rPr lang="en-US" sz="1200" dirty="0" err="1">
                <a:solidFill>
                  <a:srgbClr val="D9CBB0"/>
                </a:solidFill>
              </a:rPr>
              <a:t>Bollu</a:t>
            </a:r>
            <a:r>
              <a:rPr lang="en-US" sz="1200" dirty="0">
                <a:solidFill>
                  <a:srgbClr val="D9CBB0"/>
                </a:solidFill>
              </a:rPr>
              <a:t> Partha </a:t>
            </a:r>
            <a:r>
              <a:rPr lang="en-US" sz="1200" dirty="0" err="1">
                <a:solidFill>
                  <a:srgbClr val="D9CBB0"/>
                </a:solidFill>
              </a:rPr>
              <a:t>Saradhi</a:t>
            </a:r>
            <a:r>
              <a:rPr lang="en-US" sz="1200" dirty="0">
                <a:solidFill>
                  <a:srgbClr val="D9CBB0"/>
                </a:solidFill>
              </a:rPr>
              <a:t> (25MVCSMR0289)</a:t>
            </a:r>
            <a:br>
              <a:rPr lang="en-US" sz="1200" dirty="0">
                <a:solidFill>
                  <a:srgbClr val="D9CBB0"/>
                </a:solidFill>
              </a:rPr>
            </a:br>
            <a:r>
              <a:rPr lang="en-US" sz="1200" dirty="0">
                <a:solidFill>
                  <a:srgbClr val="D9CBB0"/>
                </a:solidFill>
              </a:rPr>
              <a:t>K. Kanishk (25MVCSMR0319)</a:t>
            </a:r>
            <a:endParaRPr lang="en-US" sz="1200" dirty="0"/>
          </a:p>
        </p:txBody>
      </p:sp>
      <p:sp>
        <p:nvSpPr>
          <p:cNvPr id="7" name="circle"/>
          <p:cNvSpPr/>
          <p:nvPr/>
        </p:nvSpPr>
        <p:spPr>
          <a:xfrm>
            <a:off x="5277393" y="1090747"/>
            <a:ext cx="3474720" cy="3474720"/>
          </a:xfrm>
          <a:prstGeom prst="ellipse">
            <a:avLst/>
          </a:prstGeom>
          <a:solidFill>
            <a:srgbClr val="154D3A"/>
          </a:solidFill>
          <a:ln w="12700">
            <a:solidFill>
              <a:srgbClr val="154D3A"/>
            </a:solidFill>
            <a:prstDash val="solid"/>
          </a:ln>
        </p:spPr>
      </p:sp>
      <p:sp>
        <p:nvSpPr>
          <p:cNvPr id="8" name="circle"/>
          <p:cNvSpPr/>
          <p:nvPr/>
        </p:nvSpPr>
        <p:spPr>
          <a:xfrm>
            <a:off x="5963193" y="1776547"/>
            <a:ext cx="2103120" cy="210312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34593" y="1639387"/>
            <a:ext cx="1280160" cy="11887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014753" y="1639387"/>
            <a:ext cx="1280160" cy="11887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14753" y="2828107"/>
            <a:ext cx="0" cy="155448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2" name="circle"/>
          <p:cNvSpPr/>
          <p:nvPr/>
        </p:nvSpPr>
        <p:spPr>
          <a:xfrm>
            <a:off x="6466113" y="2279467"/>
            <a:ext cx="1097280" cy="1097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93" y="2576647"/>
            <a:ext cx="502920" cy="502920"/>
          </a:xfrm>
          <a:prstGeom prst="rect">
            <a:avLst/>
          </a:prstGeom>
        </p:spPr>
      </p:pic>
      <p:sp>
        <p:nvSpPr>
          <p:cNvPr id="14" name="circle"/>
          <p:cNvSpPr/>
          <p:nvPr/>
        </p:nvSpPr>
        <p:spPr>
          <a:xfrm>
            <a:off x="5323113" y="1227907"/>
            <a:ext cx="822960" cy="822960"/>
          </a:xfrm>
          <a:prstGeom prst="ellipse">
            <a:avLst/>
          </a:prstGeom>
          <a:solidFill>
            <a:srgbClr val="D9CBB0"/>
          </a:solidFill>
          <a:ln w="12700">
            <a:solidFill>
              <a:srgbClr val="D9CBB0"/>
            </a:solidFill>
            <a:prstDash val="solid"/>
          </a:ln>
        </p:spPr>
      </p:sp>
      <p:sp>
        <p:nvSpPr>
          <p:cNvPr id="15" name="circle"/>
          <p:cNvSpPr/>
          <p:nvPr/>
        </p:nvSpPr>
        <p:spPr>
          <a:xfrm>
            <a:off x="7883433" y="1227907"/>
            <a:ext cx="822960" cy="822960"/>
          </a:xfrm>
          <a:prstGeom prst="ellipse">
            <a:avLst/>
          </a:prstGeom>
          <a:solidFill>
            <a:srgbClr val="D9CBB0"/>
          </a:solidFill>
          <a:ln w="12700">
            <a:solidFill>
              <a:srgbClr val="D9CBB0"/>
            </a:solidFill>
            <a:prstDash val="solid"/>
          </a:ln>
        </p:spPr>
      </p:sp>
      <p:sp>
        <p:nvSpPr>
          <p:cNvPr id="16" name="circle"/>
          <p:cNvSpPr/>
          <p:nvPr/>
        </p:nvSpPr>
        <p:spPr>
          <a:xfrm>
            <a:off x="6603273" y="3971107"/>
            <a:ext cx="822960" cy="822960"/>
          </a:xfrm>
          <a:prstGeom prst="ellipse">
            <a:avLst/>
          </a:prstGeom>
          <a:solidFill>
            <a:srgbClr val="D9CBB0"/>
          </a:solidFill>
          <a:ln w="12700">
            <a:solidFill>
              <a:srgbClr val="D9CBB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13" y="1456507"/>
            <a:ext cx="365760" cy="36576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33" y="1456507"/>
            <a:ext cx="365760" cy="36576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1873" y="4199707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03073" y="2142307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BB0"/>
                </a:solidFill>
              </a:rPr>
              <a:t>Donors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749808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BB0"/>
                </a:solidFill>
              </a:rPr>
              <a:t>NGOs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83233" y="4839787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BB0"/>
                </a:solidFill>
              </a:rPr>
              <a:t>Contributions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AEA11B-37E7-7090-E5FF-04DD364F1B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794" y="-68849"/>
            <a:ext cx="1924553" cy="10106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43000"/>
            <a:ext cx="3794760" cy="3429000"/>
          </a:xfrm>
          <a:prstGeom prst="roundRect">
            <a:avLst>
              <a:gd name="adj" fmla="val 32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4" name="objectives card"/>
          <p:cNvSpPr/>
          <p:nvPr/>
        </p:nvSpPr>
        <p:spPr>
          <a:xfrm>
            <a:off x="4892040" y="1143000"/>
            <a:ext cx="3794760" cy="3429000"/>
          </a:xfrm>
          <a:prstGeom prst="roundRect">
            <a:avLst>
              <a:gd name="adj" fmla="val 3200"/>
            </a:avLst>
          </a:prstGeom>
          <a:solidFill>
            <a:srgbClr val="0F3D2E"/>
          </a:solidFill>
          <a:ln w="9525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challenges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GiveNest objectives</a:t>
            </a:r>
            <a:endParaRPr lang="en-US" sz="1800" dirty="0"/>
          </a:p>
        </p:txBody>
      </p:sp>
      <p:sp>
        <p:nvSpPr>
          <p:cNvPr id="7" name="circle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B45F4B"/>
          </a:solidFill>
          <a:ln w="12700">
            <a:solidFill>
              <a:srgbClr val="B45F4B"/>
            </a:solidFill>
            <a:prstDash val="solid"/>
          </a:ln>
        </p:spPr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12264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920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3D2E"/>
                </a:solidFill>
              </a:rPr>
              <a:t>Hard to find suitable, trustworthy NGOs</a:t>
            </a:r>
            <a:endParaRPr lang="en-US" sz="1400" dirty="0"/>
          </a:p>
        </p:txBody>
      </p:sp>
      <p:sp>
        <p:nvSpPr>
          <p:cNvPr id="10" name="circle"/>
          <p:cNvSpPr/>
          <p:nvPr/>
        </p:nvSpPr>
        <p:spPr>
          <a:xfrm>
            <a:off x="731520" y="2724912"/>
            <a:ext cx="365760" cy="365760"/>
          </a:xfrm>
          <a:prstGeom prst="ellipse">
            <a:avLst/>
          </a:prstGeom>
          <a:solidFill>
            <a:srgbClr val="B45F4B"/>
          </a:solidFill>
          <a:ln w="12700">
            <a:solidFill>
              <a:srgbClr val="B45F4B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25496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3D2E"/>
                </a:solidFill>
              </a:rPr>
              <a:t>Little transparency in donation tracking</a:t>
            </a:r>
            <a:endParaRPr lang="en-US" sz="1400" dirty="0"/>
          </a:p>
        </p:txBody>
      </p:sp>
      <p:sp>
        <p:nvSpPr>
          <p:cNvPr id="13" name="circle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B45F4B"/>
          </a:solidFill>
          <a:ln w="12700">
            <a:solidFill>
              <a:srgbClr val="B45F4B"/>
            </a:solidFill>
            <a:prstDash val="solid"/>
          </a:ln>
        </p:spPr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53872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3467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3D2E"/>
                </a:solidFill>
              </a:rPr>
              <a:t>Manual, inefficient record keeping</a:t>
            </a:r>
            <a:endParaRPr lang="en-US" sz="1400" dirty="0"/>
          </a:p>
        </p:txBody>
      </p:sp>
      <p:sp>
        <p:nvSpPr>
          <p:cNvPr id="16" name="circle"/>
          <p:cNvSpPr/>
          <p:nvPr/>
        </p:nvSpPr>
        <p:spPr>
          <a:xfrm>
            <a:off x="731520" y="4151376"/>
            <a:ext cx="365760" cy="365760"/>
          </a:xfrm>
          <a:prstGeom prst="ellipse">
            <a:avLst/>
          </a:prstGeom>
          <a:solidFill>
            <a:srgbClr val="B45F4B"/>
          </a:solidFill>
          <a:ln w="12700">
            <a:solidFill>
              <a:srgbClr val="B45F4B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2519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059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3D2E"/>
                </a:solidFill>
              </a:rPr>
              <a:t>Donated items don't match NGO needs</a:t>
            </a:r>
            <a:endParaRPr lang="en-US" sz="1400" dirty="0"/>
          </a:p>
        </p:txBody>
      </p:sp>
      <p:sp>
        <p:nvSpPr>
          <p:cNvPr id="19" name="circle"/>
          <p:cNvSpPr/>
          <p:nvPr/>
        </p:nvSpPr>
        <p:spPr>
          <a:xfrm>
            <a:off x="5166360" y="20116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11226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69280" y="1920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Connect donors with approved NGOs</a:t>
            </a:r>
            <a:endParaRPr lang="en-US" sz="1400" dirty="0"/>
          </a:p>
        </p:txBody>
      </p:sp>
      <p:sp>
        <p:nvSpPr>
          <p:cNvPr id="22" name="circle"/>
          <p:cNvSpPr/>
          <p:nvPr/>
        </p:nvSpPr>
        <p:spPr>
          <a:xfrm>
            <a:off x="5166360" y="27249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82549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69280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Digitize donation management</a:t>
            </a:r>
            <a:endParaRPr lang="en-US" sz="1400" dirty="0"/>
          </a:p>
        </p:txBody>
      </p:sp>
      <p:sp>
        <p:nvSpPr>
          <p:cNvPr id="25" name="circle"/>
          <p:cNvSpPr/>
          <p:nvPr/>
        </p:nvSpPr>
        <p:spPr>
          <a:xfrm>
            <a:off x="5166360" y="343814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538728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69280" y="33467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Enable transparent donation tracking</a:t>
            </a:r>
            <a:endParaRPr lang="en-US" sz="1400" dirty="0"/>
          </a:p>
        </p:txBody>
      </p:sp>
      <p:sp>
        <p:nvSpPr>
          <p:cNvPr id="28" name="circle"/>
          <p:cNvSpPr/>
          <p:nvPr/>
        </p:nvSpPr>
        <p:spPr>
          <a:xfrm>
            <a:off x="5166360" y="415137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425196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669280" y="4059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Recommend NGOs using SmartMatch</a:t>
            </a:r>
            <a:endParaRPr lang="en-US" sz="1400" dirty="0"/>
          </a:p>
        </p:txBody>
      </p:sp>
      <p:sp>
        <p:nvSpPr>
          <p:cNvPr id="31" name="arrow"/>
          <p:cNvSpPr/>
          <p:nvPr/>
        </p:nvSpPr>
        <p:spPr>
          <a:xfrm>
            <a:off x="4297680" y="25603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715768"/>
            <a:ext cx="237744" cy="237744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</a:rPr>
              <a:t>Our Solution &amp; 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77440" y="1508760"/>
            <a:ext cx="0" cy="12801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14400" y="2788920"/>
            <a:ext cx="1463040" cy="11887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2788920"/>
            <a:ext cx="1463040" cy="11887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hub"/>
          <p:cNvSpPr/>
          <p:nvPr/>
        </p:nvSpPr>
        <p:spPr>
          <a:xfrm>
            <a:off x="1645920" y="2057400"/>
            <a:ext cx="1463040" cy="146304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514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GiveNest</a:t>
            </a:r>
            <a:endParaRPr lang="en-US" sz="1200" dirty="0"/>
          </a:p>
        </p:txBody>
      </p:sp>
      <p:sp>
        <p:nvSpPr>
          <p:cNvPr id="9" name="circle"/>
          <p:cNvSpPr/>
          <p:nvPr/>
        </p:nvSpPr>
        <p:spPr>
          <a:xfrm>
            <a:off x="2011680" y="109728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04" y="1289304"/>
            <a:ext cx="347472" cy="347472"/>
          </a:xfrm>
          <a:prstGeom prst="rect">
            <a:avLst/>
          </a:prstGeom>
        </p:spPr>
      </p:pic>
      <p:sp>
        <p:nvSpPr>
          <p:cNvPr id="11" name="circle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803904"/>
            <a:ext cx="347472" cy="347472"/>
          </a:xfrm>
          <a:prstGeom prst="rect">
            <a:avLst/>
          </a:prstGeom>
        </p:spPr>
      </p:pic>
      <p:sp>
        <p:nvSpPr>
          <p:cNvPr id="13" name="circle"/>
          <p:cNvSpPr/>
          <p:nvPr/>
        </p:nvSpPr>
        <p:spPr>
          <a:xfrm>
            <a:off x="3474720" y="361188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380390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83464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2E"/>
                </a:solidFill>
              </a:rPr>
              <a:t>Admin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82880" y="4389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2E"/>
                </a:solidFill>
              </a:rPr>
              <a:t>NGO Manager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108960" y="4389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2E"/>
                </a:solidFill>
              </a:rPr>
              <a:t>Donor</a:t>
            </a:r>
            <a:endParaRPr lang="en-US" sz="1300" dirty="0"/>
          </a:p>
        </p:txBody>
      </p:sp>
      <p:sp>
        <p:nvSpPr>
          <p:cNvPr id="18" name="feature"/>
          <p:cNvSpPr/>
          <p:nvPr/>
        </p:nvSpPr>
        <p:spPr>
          <a:xfrm>
            <a:off x="4937760" y="11430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19" name="circle"/>
          <p:cNvSpPr/>
          <p:nvPr/>
        </p:nvSpPr>
        <p:spPr>
          <a:xfrm>
            <a:off x="5074920" y="14447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30352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Role-based dashboards</a:t>
            </a:r>
            <a:endParaRPr lang="en-US" sz="1300" dirty="0"/>
          </a:p>
        </p:txBody>
      </p:sp>
      <p:sp>
        <p:nvSpPr>
          <p:cNvPr id="21" name="feature"/>
          <p:cNvSpPr/>
          <p:nvPr/>
        </p:nvSpPr>
        <p:spPr>
          <a:xfrm>
            <a:off x="6858000" y="11430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22" name="circle"/>
          <p:cNvSpPr/>
          <p:nvPr/>
        </p:nvSpPr>
        <p:spPr>
          <a:xfrm>
            <a:off x="6995160" y="14447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22376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24" name="feature"/>
          <p:cNvSpPr/>
          <p:nvPr/>
        </p:nvSpPr>
        <p:spPr>
          <a:xfrm>
            <a:off x="4937760" y="201168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25" name="circle"/>
          <p:cNvSpPr/>
          <p:nvPr/>
        </p:nvSpPr>
        <p:spPr>
          <a:xfrm>
            <a:off x="5074920" y="23134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Money &amp; item donations</a:t>
            </a:r>
            <a:endParaRPr lang="en-US" sz="1300" dirty="0"/>
          </a:p>
        </p:txBody>
      </p:sp>
      <p:sp>
        <p:nvSpPr>
          <p:cNvPr id="27" name="feature"/>
          <p:cNvSpPr/>
          <p:nvPr/>
        </p:nvSpPr>
        <p:spPr>
          <a:xfrm>
            <a:off x="6858000" y="201168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28" name="circle"/>
          <p:cNvSpPr/>
          <p:nvPr/>
        </p:nvSpPr>
        <p:spPr>
          <a:xfrm>
            <a:off x="6995160" y="23134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22376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NGO approval workflow</a:t>
            </a:r>
            <a:endParaRPr lang="en-US" sz="1300" dirty="0"/>
          </a:p>
        </p:txBody>
      </p:sp>
      <p:sp>
        <p:nvSpPr>
          <p:cNvPr id="30" name="feature"/>
          <p:cNvSpPr/>
          <p:nvPr/>
        </p:nvSpPr>
        <p:spPr>
          <a:xfrm>
            <a:off x="4937760" y="28803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31" name="circle"/>
          <p:cNvSpPr/>
          <p:nvPr/>
        </p:nvSpPr>
        <p:spPr>
          <a:xfrm>
            <a:off x="5074920" y="3182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0352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Campaigns &amp; wishlists</a:t>
            </a:r>
            <a:endParaRPr lang="en-US" sz="1300" dirty="0"/>
          </a:p>
        </p:txBody>
      </p:sp>
      <p:sp>
        <p:nvSpPr>
          <p:cNvPr id="33" name="feature"/>
          <p:cNvSpPr/>
          <p:nvPr/>
        </p:nvSpPr>
        <p:spPr>
          <a:xfrm>
            <a:off x="6858000" y="28803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34" name="circle"/>
          <p:cNvSpPr/>
          <p:nvPr/>
        </p:nvSpPr>
        <p:spPr>
          <a:xfrm>
            <a:off x="6995160" y="3182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22376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Donation lifecycle tracking</a:t>
            </a:r>
            <a:endParaRPr lang="en-US" sz="1300" dirty="0"/>
          </a:p>
        </p:txBody>
      </p:sp>
      <p:sp>
        <p:nvSpPr>
          <p:cNvPr id="36" name="feature"/>
          <p:cNvSpPr/>
          <p:nvPr/>
        </p:nvSpPr>
        <p:spPr>
          <a:xfrm>
            <a:off x="4937760" y="374904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37" name="circle"/>
          <p:cNvSpPr/>
          <p:nvPr/>
        </p:nvSpPr>
        <p:spPr>
          <a:xfrm>
            <a:off x="5074920" y="40507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3035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SmartMatch recommendations</a:t>
            </a:r>
            <a:endParaRPr lang="en-US" sz="1300" dirty="0"/>
          </a:p>
        </p:txBody>
      </p:sp>
      <p:sp>
        <p:nvSpPr>
          <p:cNvPr id="39" name="feature"/>
          <p:cNvSpPr/>
          <p:nvPr/>
        </p:nvSpPr>
        <p:spPr>
          <a:xfrm>
            <a:off x="6858000" y="374904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40" name="circle"/>
          <p:cNvSpPr/>
          <p:nvPr/>
        </p:nvSpPr>
        <p:spPr>
          <a:xfrm>
            <a:off x="6995160" y="40507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22376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Notifications &amp; audit logs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</a:rPr>
              <a:t>Technology Stack &amp; Architecture</a:t>
            </a:r>
            <a:endParaRPr lang="en-US" sz="3000" dirty="0"/>
          </a:p>
        </p:txBody>
      </p:sp>
      <p:sp>
        <p:nvSpPr>
          <p:cNvPr id="3" name="stage"/>
          <p:cNvSpPr/>
          <p:nvPr/>
        </p:nvSpPr>
        <p:spPr>
          <a:xfrm>
            <a:off x="457200" y="11430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4" name="circle"/>
          <p:cNvSpPr/>
          <p:nvPr/>
        </p:nvSpPr>
        <p:spPr>
          <a:xfrm>
            <a:off x="937260" y="1280160"/>
            <a:ext cx="457200" cy="4572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2E"/>
                </a:solidFill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Donor · NGO Manager · Admin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" y="1591056"/>
            <a:ext cx="182880" cy="182880"/>
          </a:xfrm>
          <a:prstGeom prst="rect">
            <a:avLst/>
          </a:prstGeom>
        </p:spPr>
      </p:pic>
      <p:sp>
        <p:nvSpPr>
          <p:cNvPr id="9" name="stage"/>
          <p:cNvSpPr/>
          <p:nvPr/>
        </p:nvSpPr>
        <p:spPr>
          <a:xfrm>
            <a:off x="2148840" y="11430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 w="9525">
            <a:solidFill>
              <a:srgbClr val="0F3D2E"/>
            </a:solidFill>
            <a:prstDash val="solid"/>
          </a:ln>
        </p:spPr>
      </p:sp>
      <p:sp>
        <p:nvSpPr>
          <p:cNvPr id="10" name="circle"/>
          <p:cNvSpPr/>
          <p:nvPr/>
        </p:nvSpPr>
        <p:spPr>
          <a:xfrm>
            <a:off x="2628900" y="1280160"/>
            <a:ext cx="457200" cy="457200"/>
          </a:xfrm>
          <a:prstGeom prst="ellipse">
            <a:avLst/>
          </a:prstGeom>
          <a:solidFill>
            <a:srgbClr val="154D3A"/>
          </a:solidFill>
          <a:ln w="12700">
            <a:solidFill>
              <a:srgbClr val="154D3A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628" y="13898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9456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Frontend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14884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React.js · Vite · HTML5 · CSS3 · JavaScript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591056"/>
            <a:ext cx="182880" cy="182880"/>
          </a:xfrm>
          <a:prstGeom prst="rect">
            <a:avLst/>
          </a:prstGeom>
        </p:spPr>
      </p:pic>
      <p:sp>
        <p:nvSpPr>
          <p:cNvPr id="15" name="stage"/>
          <p:cNvSpPr/>
          <p:nvPr/>
        </p:nvSpPr>
        <p:spPr>
          <a:xfrm>
            <a:off x="3840480" y="11430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6" name="circle"/>
          <p:cNvSpPr/>
          <p:nvPr/>
        </p:nvSpPr>
        <p:spPr>
          <a:xfrm>
            <a:off x="4320540" y="1280160"/>
            <a:ext cx="457200" cy="457200"/>
          </a:xfrm>
          <a:prstGeom prst="ellipse">
            <a:avLst/>
          </a:prstGeom>
          <a:solidFill>
            <a:srgbClr val="154D3A"/>
          </a:solidFill>
          <a:ln w="12700">
            <a:solidFill>
              <a:srgbClr val="154D3A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268" y="138988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88620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Express REST APIs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84048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Node.js · Express.js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591056"/>
            <a:ext cx="182880" cy="182880"/>
          </a:xfrm>
          <a:prstGeom prst="rect">
            <a:avLst/>
          </a:prstGeom>
        </p:spPr>
      </p:pic>
      <p:sp>
        <p:nvSpPr>
          <p:cNvPr id="21" name="stage"/>
          <p:cNvSpPr/>
          <p:nvPr/>
        </p:nvSpPr>
        <p:spPr>
          <a:xfrm>
            <a:off x="5532120" y="11430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22" name="circle"/>
          <p:cNvSpPr/>
          <p:nvPr/>
        </p:nvSpPr>
        <p:spPr>
          <a:xfrm>
            <a:off x="6012180" y="1280160"/>
            <a:ext cx="457200" cy="457200"/>
          </a:xfrm>
          <a:prstGeom prst="ellipse">
            <a:avLst/>
          </a:prstGeom>
          <a:solidFill>
            <a:srgbClr val="154D3A"/>
          </a:solidFill>
          <a:ln w="12700">
            <a:solidFill>
              <a:srgbClr val="154D3A"/>
            </a:solidFill>
            <a:prstDash val="solid"/>
          </a:ln>
        </p:spPr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08" y="138988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57784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Mongoose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53212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Schemas &amp; validation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91056"/>
            <a:ext cx="182880" cy="182880"/>
          </a:xfrm>
          <a:prstGeom prst="rect">
            <a:avLst/>
          </a:prstGeom>
        </p:spPr>
      </p:pic>
      <p:sp>
        <p:nvSpPr>
          <p:cNvPr id="27" name="stage"/>
          <p:cNvSpPr/>
          <p:nvPr/>
        </p:nvSpPr>
        <p:spPr>
          <a:xfrm>
            <a:off x="7223760" y="11430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8" name="circle"/>
          <p:cNvSpPr/>
          <p:nvPr/>
        </p:nvSpPr>
        <p:spPr>
          <a:xfrm>
            <a:off x="7703820" y="1280160"/>
            <a:ext cx="457200" cy="457200"/>
          </a:xfrm>
          <a:prstGeom prst="ellipse">
            <a:avLst/>
          </a:prstGeom>
          <a:solidFill>
            <a:srgbClr val="154D3A"/>
          </a:solidFill>
          <a:ln w="12700">
            <a:solidFill>
              <a:srgbClr val="154D3A"/>
            </a:solidFill>
            <a:prstDash val="solid"/>
          </a:ln>
        </p:spPr>
      </p:sp>
      <p:pic>
        <p:nvPicPr>
          <p:cNvPr id="29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3548" y="1389888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26948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722376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8 collections</a:t>
            </a:r>
            <a:endParaRPr lang="en-US" sz="1200" dirty="0"/>
          </a:p>
        </p:txBody>
      </p:sp>
      <p:sp>
        <p:nvSpPr>
          <p:cNvPr id="32" name="how card"/>
          <p:cNvSpPr/>
          <p:nvPr/>
        </p:nvSpPr>
        <p:spPr>
          <a:xfrm>
            <a:off x="457200" y="324612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6858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4" name="Text 23"/>
          <p:cNvSpPr txBox="1"/>
          <p:nvPr/>
        </p:nvSpPr>
        <p:spPr>
          <a:xfrm>
            <a:off x="68580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F3D2E"/>
                </a:solidFill>
              </a:rPr>
              <a:t>React sends HTTP requests to the API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F3D2E"/>
                </a:solidFill>
              </a:rPr>
              <a:t>Express validates and applies business logic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F3D2E"/>
                </a:solidFill>
              </a:rPr>
              <a:t>MongoDB stores the application records</a:t>
            </a:r>
            <a:endParaRPr lang="en-US" sz="1300" dirty="0"/>
          </a:p>
        </p:txBody>
      </p:sp>
      <p:sp>
        <p:nvSpPr>
          <p:cNvPr id="35" name="security card"/>
          <p:cNvSpPr/>
          <p:nvPr/>
        </p:nvSpPr>
        <p:spPr>
          <a:xfrm>
            <a:off x="5852160" y="3246120"/>
            <a:ext cx="2834640" cy="1325880"/>
          </a:xfrm>
          <a:prstGeom prst="roundRect">
            <a:avLst>
              <a:gd name="adj" fmla="val 8276"/>
            </a:avLst>
          </a:prstGeom>
          <a:solidFill>
            <a:srgbClr val="0F3D2E"/>
          </a:solidFill>
          <a:ln w="9525">
            <a:solidFill>
              <a:srgbClr val="0F3D2E"/>
            </a:solidFill>
            <a:prstDash val="solid"/>
          </a:ln>
        </p:spPr>
      </p:sp>
      <p:sp>
        <p:nvSpPr>
          <p:cNvPr id="36" name="circle"/>
          <p:cNvSpPr/>
          <p:nvPr/>
        </p:nvSpPr>
        <p:spPr>
          <a:xfrm>
            <a:off x="6035040" y="34290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520440"/>
            <a:ext cx="182880" cy="18288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4922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9" name="Text 27"/>
          <p:cNvSpPr txBox="1"/>
          <p:nvPr/>
        </p:nvSpPr>
        <p:spPr>
          <a:xfrm>
            <a:off x="612648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</a:rPr>
              <a:t>JWT authentication · bcryptjs hashing · role-based access control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</a:rPr>
              <a:t>SmartMatch &amp; Donation Workflow</a:t>
            </a:r>
            <a:endParaRPr lang="en-US" sz="3000" dirty="0"/>
          </a:p>
        </p:txBody>
      </p:sp>
      <p:sp>
        <p:nvSpPr>
          <p:cNvPr id="3" name="smartmatch card"/>
          <p:cNvSpPr/>
          <p:nvPr/>
        </p:nvSpPr>
        <p:spPr>
          <a:xfrm>
            <a:off x="457200" y="1097280"/>
            <a:ext cx="4297680" cy="3520440"/>
          </a:xfrm>
          <a:prstGeom prst="roundRect">
            <a:avLst>
              <a:gd name="adj" fmla="val 3117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SmartMatch: rule-based ranking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D2E"/>
                </a:solidFill>
              </a:rPr>
              <a:t>Category compatibility</a:t>
            </a:r>
            <a:endParaRPr lang="en-US" sz="1300" dirty="0"/>
          </a:p>
        </p:txBody>
      </p:sp>
      <p:sp>
        <p:nvSpPr>
          <p:cNvPr id="6" name="bar"/>
          <p:cNvSpPr/>
          <p:nvPr/>
        </p:nvSpPr>
        <p:spPr>
          <a:xfrm>
            <a:off x="2331720" y="1792224"/>
            <a:ext cx="1645920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+45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D2E"/>
                </a:solidFill>
              </a:rPr>
              <a:t>Active wishlist match</a:t>
            </a:r>
            <a:endParaRPr lang="en-US" sz="1300" dirty="0"/>
          </a:p>
        </p:txBody>
      </p:sp>
      <p:sp>
        <p:nvSpPr>
          <p:cNvPr id="9" name="bar"/>
          <p:cNvSpPr/>
          <p:nvPr/>
        </p:nvSpPr>
        <p:spPr>
          <a:xfrm>
            <a:off x="2331720" y="229514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+30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D2E"/>
                </a:solidFill>
              </a:rPr>
              <a:t>Same city</a:t>
            </a:r>
            <a:endParaRPr lang="en-US" sz="1300" dirty="0"/>
          </a:p>
        </p:txBody>
      </p:sp>
      <p:sp>
        <p:nvSpPr>
          <p:cNvPr id="12" name="bar"/>
          <p:cNvSpPr/>
          <p:nvPr/>
        </p:nvSpPr>
        <p:spPr>
          <a:xfrm>
            <a:off x="2331720" y="279806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+15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D2E"/>
                </a:solidFill>
              </a:rPr>
              <a:t>Approved NGO</a:t>
            </a:r>
            <a:endParaRPr lang="en-US" sz="1300" dirty="0"/>
          </a:p>
        </p:txBody>
      </p:sp>
      <p:sp>
        <p:nvSpPr>
          <p:cNvPr id="15" name="bar"/>
          <p:cNvSpPr/>
          <p:nvPr/>
        </p:nvSpPr>
        <p:spPr>
          <a:xfrm>
            <a:off x="2331720" y="330098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8892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</a:rPr>
              <a:t>+10</a:t>
            </a:r>
            <a:endParaRPr lang="en-US" sz="1300" dirty="0"/>
          </a:p>
        </p:txBody>
      </p:sp>
      <p:sp>
        <p:nvSpPr>
          <p:cNvPr id="17" name="formula"/>
          <p:cNvSpPr/>
          <p:nvPr/>
        </p:nvSpPr>
        <p:spPr>
          <a:xfrm>
            <a:off x="685800" y="379476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0F3D2E"/>
          </a:solidFill>
          <a:ln w="9525">
            <a:solidFill>
              <a:srgbClr val="0F3D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= 45C + 30N + 15L + 10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97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468"/>
                </a:solidFill>
              </a:rPr>
              <a:t>Maximum score 100 · rule-based, not machine learning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 workflow</a:t>
            </a:r>
            <a:endParaRPr lang="en-US" sz="1600" dirty="0"/>
          </a:p>
        </p:txBody>
      </p:sp>
      <p:sp>
        <p:nvSpPr>
          <p:cNvPr id="21" name="step"/>
          <p:cNvSpPr/>
          <p:nvPr/>
        </p:nvSpPr>
        <p:spPr>
          <a:xfrm>
            <a:off x="5029200" y="164592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4EEE1"/>
          </a:solidFill>
          <a:ln w="9525">
            <a:solidFill>
              <a:srgbClr val="D9CB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2E"/>
                </a:solidFill>
              </a:rPr>
              <a:t>Donor creates donation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▼</a:t>
            </a:r>
            <a:endParaRPr lang="en-US" sz="1100" dirty="0"/>
          </a:p>
        </p:txBody>
      </p:sp>
      <p:sp>
        <p:nvSpPr>
          <p:cNvPr id="24" name="step"/>
          <p:cNvSpPr/>
          <p:nvPr/>
        </p:nvSpPr>
        <p:spPr>
          <a:xfrm>
            <a:off x="5029200" y="237744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4EEE1"/>
          </a:solidFill>
          <a:ln w="9525">
            <a:solidFill>
              <a:srgbClr val="D9CB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2E"/>
                </a:solidFill>
              </a:rPr>
              <a:t>NGO accepts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▼</a:t>
            </a:r>
            <a:endParaRPr lang="en-US" sz="1100" dirty="0"/>
          </a:p>
        </p:txBody>
      </p:sp>
      <p:sp>
        <p:nvSpPr>
          <p:cNvPr id="27" name="step"/>
          <p:cNvSpPr/>
          <p:nvPr/>
        </p:nvSpPr>
        <p:spPr>
          <a:xfrm>
            <a:off x="5029200" y="310896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4EEE1"/>
          </a:solidFill>
          <a:ln w="9525">
            <a:solidFill>
              <a:srgbClr val="D9CB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D2E"/>
                </a:solidFill>
              </a:rPr>
              <a:t>Scheduled (optional)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▼</a:t>
            </a:r>
            <a:endParaRPr lang="en-US" sz="1100" dirty="0"/>
          </a:p>
        </p:txBody>
      </p:sp>
      <p:sp>
        <p:nvSpPr>
          <p:cNvPr id="30" name="step"/>
          <p:cNvSpPr/>
          <p:nvPr/>
        </p:nvSpPr>
        <p:spPr>
          <a:xfrm>
            <a:off x="5029200" y="384048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Received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0" y="2628900"/>
            <a:ext cx="320040" cy="0"/>
          </a:xfrm>
          <a:prstGeom prst="line">
            <a:avLst/>
          </a:prstGeom>
          <a:noFill/>
          <a:ln w="25400">
            <a:solidFill>
              <a:srgbClr val="B45F4B"/>
            </a:solidFill>
            <a:prstDash val="dash"/>
          </a:ln>
        </p:spPr>
      </p:sp>
      <p:sp>
        <p:nvSpPr>
          <p:cNvPr id="33" name="declined"/>
          <p:cNvSpPr/>
          <p:nvPr/>
        </p:nvSpPr>
        <p:spPr>
          <a:xfrm>
            <a:off x="7635240" y="237744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F6E3DD"/>
          </a:solidFill>
          <a:ln w="9525">
            <a:solidFill>
              <a:srgbClr val="B45F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35240" y="2377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3F2F"/>
                </a:solidFill>
              </a:rPr>
              <a:t>Declined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468"/>
                </a:solidFill>
              </a:rPr>
              <a:t>from Offered, Accepted or Scheduled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</a:rPr>
              <a:t>Implementation, Results &amp; Testing</a:t>
            </a:r>
            <a:endParaRPr lang="en-US" sz="3000" dirty="0"/>
          </a:p>
        </p:txBody>
      </p:sp>
      <p:sp>
        <p:nvSpPr>
          <p:cNvPr id="3" name="impl card"/>
          <p:cNvSpPr/>
          <p:nvPr/>
        </p:nvSpPr>
        <p:spPr>
          <a:xfrm>
            <a:off x="457200" y="10972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REST APIs with full CRUD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8 MongoDB collections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JWT + role-based permissions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Automatic donation history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Campaign progress from received money</a:t>
            </a:r>
            <a:endParaRPr lang="en-US" sz="1200" dirty="0"/>
          </a:p>
        </p:txBody>
      </p:sp>
      <p:sp>
        <p:nvSpPr>
          <p:cNvPr id="6" name="test card"/>
          <p:cNvSpPr/>
          <p:nvPr/>
        </p:nvSpPr>
        <p:spPr>
          <a:xfrm>
            <a:off x="45720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4EEE1"/>
          </a:solidFill>
          <a:ln w="9525">
            <a:solidFill>
              <a:srgbClr val="F4EE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demonstration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Login &amp; authentication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Donation creation &amp; status updates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NGO approval workflow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SmartMatch verification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3D2E"/>
                </a:solidFill>
              </a:rPr>
              <a:t>Records checked in MongoDB Compass</a:t>
            </a:r>
            <a:endParaRPr lang="en-US" sz="1200" dirty="0"/>
          </a:p>
        </p:txBody>
      </p:sp>
      <p:sp>
        <p:nvSpPr>
          <p:cNvPr id="9" name="screenshot placeholder"/>
          <p:cNvSpPr/>
          <p:nvPr/>
        </p:nvSpPr>
        <p:spPr>
          <a:xfrm>
            <a:off x="4846320" y="1097280"/>
            <a:ext cx="3840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F7468"/>
            </a:solidFill>
            <a:prstDash val="dash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316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46320" y="19888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7468"/>
                </a:solidFill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Screenshot placeholder</a:t>
            </a:r>
            <a:endParaRPr lang="en-US" sz="1200" dirty="0"/>
          </a:p>
        </p:txBody>
      </p:sp>
      <p:sp>
        <p:nvSpPr>
          <p:cNvPr id="12" name="screenshot placeholder"/>
          <p:cNvSpPr/>
          <p:nvPr/>
        </p:nvSpPr>
        <p:spPr>
          <a:xfrm>
            <a:off x="4846320" y="30175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5F7468"/>
            </a:solidFill>
            <a:prstDash val="dash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3604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46320" y="38176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7468"/>
                </a:solidFill>
              </a:rPr>
              <a:t>SmartMatch results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Screenshot placeholder</a:t>
            </a:r>
            <a:endParaRPr lang="en-US" sz="1200" dirty="0"/>
          </a:p>
        </p:txBody>
      </p:sp>
      <p:sp>
        <p:nvSpPr>
          <p:cNvPr id="15" name="screenshot placeholder"/>
          <p:cNvSpPr/>
          <p:nvPr/>
        </p:nvSpPr>
        <p:spPr>
          <a:xfrm>
            <a:off x="6858000" y="30175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5F7468"/>
            </a:solidFill>
            <a:prstDash val="dash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604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38176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7468"/>
                </a:solidFill>
              </a:rPr>
              <a:t>MongoDB Compass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468"/>
                </a:solidFill>
              </a:rPr>
              <a:t>Screenshot placeholder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3" name="circl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447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GiveNest shows how modern full-stack web technologies can simplify charitable giving by connecting donors with NGOs through a centralized, secure and transparent platform.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7" name="future"/>
          <p:cNvSpPr/>
          <p:nvPr/>
        </p:nvSpPr>
        <p:spPr>
          <a:xfrm>
            <a:off x="4937760" y="160020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Payment gateway integration</a:t>
            </a:r>
            <a:endParaRPr lang="en-US" sz="1200" dirty="0"/>
          </a:p>
        </p:txBody>
      </p:sp>
      <p:sp>
        <p:nvSpPr>
          <p:cNvPr id="9" name="future"/>
          <p:cNvSpPr/>
          <p:nvPr/>
        </p:nvSpPr>
        <p:spPr>
          <a:xfrm>
            <a:off x="6858000" y="160020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Geolocation-based matching</a:t>
            </a:r>
            <a:endParaRPr lang="en-US" sz="1200" dirty="0"/>
          </a:p>
        </p:txBody>
      </p:sp>
      <p:sp>
        <p:nvSpPr>
          <p:cNvPr id="11" name="future"/>
          <p:cNvSpPr/>
          <p:nvPr/>
        </p:nvSpPr>
        <p:spPr>
          <a:xfrm>
            <a:off x="4937760" y="224028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AI/ML-powered recommendations</a:t>
            </a:r>
            <a:endParaRPr lang="en-US" sz="1200" dirty="0"/>
          </a:p>
        </p:txBody>
      </p:sp>
      <p:sp>
        <p:nvSpPr>
          <p:cNvPr id="13" name="future"/>
          <p:cNvSpPr/>
          <p:nvPr/>
        </p:nvSpPr>
        <p:spPr>
          <a:xfrm>
            <a:off x="6858000" y="224028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Pickup &amp; delivery scheduling</a:t>
            </a:r>
            <a:endParaRPr lang="en-US" sz="1200" dirty="0"/>
          </a:p>
        </p:txBody>
      </p:sp>
      <p:sp>
        <p:nvSpPr>
          <p:cNvPr id="15" name="future"/>
          <p:cNvSpPr/>
          <p:nvPr/>
        </p:nvSpPr>
        <p:spPr>
          <a:xfrm>
            <a:off x="4937760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Enhanced NGO verification</a:t>
            </a:r>
            <a:endParaRPr lang="en-US" sz="1200" dirty="0"/>
          </a:p>
        </p:txBody>
      </p:sp>
      <p:sp>
        <p:nvSpPr>
          <p:cNvPr id="17" name="future"/>
          <p:cNvSpPr/>
          <p:nvPr/>
        </p:nvSpPr>
        <p:spPr>
          <a:xfrm>
            <a:off x="6858000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B6B4A"/>
          </a:solidFill>
          <a:ln w="9525">
            <a:solidFill>
              <a:srgbClr val="1B6B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Advanced analytics &amp; reporting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GiveNest – Connecting Generosity with Genuine Needs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veNest">
  <a:themeElements>
    <a:clrScheme name="GiveNest">
      <a:dk1>
        <a:srgbClr val="0F3D2E"/>
      </a:dk1>
      <a:lt1>
        <a:srgbClr val="FFFFFF"/>
      </a:lt1>
      <a:dk2>
        <a:srgbClr val="1B6B4A"/>
      </a:dk2>
      <a:lt2>
        <a:srgbClr val="F4EEE1"/>
      </a:lt2>
      <a:accent1>
        <a:srgbClr val="10B981"/>
      </a:accent1>
      <a:accent2>
        <a:srgbClr val="1B6B4A"/>
      </a:accent2>
      <a:accent3>
        <a:srgbClr val="D9CBB0"/>
      </a:accent3>
      <a:accent4>
        <a:srgbClr val="A7F3D0"/>
      </a:accent4>
      <a:accent5>
        <a:srgbClr val="5F7468"/>
      </a:accent5>
      <a:accent6>
        <a:srgbClr val="B45F4B"/>
      </a:accent6>
      <a:hlink>
        <a:srgbClr val="10B981"/>
      </a:hlink>
      <a:folHlink>
        <a:srgbClr val="1B6B4A"/>
      </a:folHlink>
    </a:clrScheme>
    <a:fontScheme name="GiveN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404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GiveNest</vt:lpstr>
      <vt:lpstr>GiveNest</vt:lpstr>
      <vt:lpstr>Problem Statement &amp; Objectives</vt:lpstr>
      <vt:lpstr>Our Solution &amp; Key Features</vt:lpstr>
      <vt:lpstr>Technology Stack &amp; Architecture</vt:lpstr>
      <vt:lpstr>SmartMatch &amp; Donation Workflow</vt:lpstr>
      <vt:lpstr>Implementation, Results &amp; Testing</vt:lpstr>
      <vt:lpstr>Conclusion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GiveNest – NGO Donation Management System</dc:title>
  <dc:subject>PptxGenJS Presentation</dc:subject>
  <dc:creator>PptxGenJS</dc:creator>
  <cp:lastModifiedBy>Kadiyala Abhiram</cp:lastModifiedBy>
  <cp:revision>3</cp:revision>
  <dcterms:created xsi:type="dcterms:W3CDTF">2026-10-10T05:39:10Z</dcterms:created>
  <dcterms:modified xsi:type="dcterms:W3CDTF">2026-10-10T06:10:09Z</dcterms:modified>
</cp:coreProperties>
</file>